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3000"/>
              </a:lnSpc>
              <a:defRPr lang="en-US" sz="68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EA0C0817-A112-4847-8014-A94B7D2A4EA3}" type="datetime1">
              <a:rPr lang="en-US" smtClean="0"/>
              <a:t>1/8/2026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3801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2B432-ACDA-4023-A761-2BAB76577B62}" type="datetime1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886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anchor="ctr">
            <a:normAutofit/>
          </a:bodyPr>
          <a:lstStyle>
            <a:lvl1pPr algn="ctr">
              <a:lnSpc>
                <a:spcPct val="83000"/>
              </a:lnSpc>
              <a:defRPr lang="en-US" sz="68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D9C646AA-F36E-4540-911D-FFFC0A0EF24A}" type="datetime1">
              <a:rPr lang="en-US" smtClean="0"/>
              <a:t>1/8/2026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4843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6D26-FA5F-4637-B602-B7C2DC34CFD4}" type="datetime1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4869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F15D8-96D1-4781-BC50-CA8A088B2FE4}" type="datetime1">
              <a:rPr lang="en-US" smtClean="0"/>
              <a:t>1/8/2026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0801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6C99-B8F8-4528-BD05-0E16E943DC09}" type="datetime1">
              <a:rPr lang="en-US" smtClean="0"/>
              <a:t>1/8/2026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1443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36942-C211-4B28-8DBD-C953E00AF71B}" type="datetime1">
              <a:rPr lang="en-US" smtClean="0"/>
              <a:t>1/8/2026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7431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E8D12A6-918A-48BD-8CB9-CA713993B0EA}" type="datetime1">
              <a:rPr lang="en-US" smtClean="0"/>
              <a:t>1/8/2026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2878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E778CE86-875F-4587-BCF6-FA054AFC0D53}" type="datetime1">
              <a:rPr lang="en-US" smtClean="0"/>
              <a:pPr/>
              <a:t>1/8/2026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/>
          <a:lstStyle/>
          <a:p>
            <a:fld id="{34B7E4EF-A1BD-40F4-AB7B-04F084DD991D}" type="slidenum">
              <a:rPr lang="en-US" smtClean="0"/>
              <a:t>‹nº›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156761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F40B7-36AB-4376-BE14-EF7004D79BB9}" type="datetime1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7944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7CAB8-DCAE-46A5-AADA-B3FAD11A54E0}" type="datetime1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5902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pt-PT"/>
          </a:p>
        </p:txBody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pt-PT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6FA2B21-3FCD-4721-B95C-427943F61125}" type="datetime1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662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32" r:id="rId5"/>
    <p:sldLayoutId id="2147483727" r:id="rId6"/>
    <p:sldLayoutId id="2147483728" r:id="rId7"/>
    <p:sldLayoutId id="2147483729" r:id="rId8"/>
    <p:sldLayoutId id="2147483730" r:id="rId9"/>
    <p:sldLayoutId id="2147483731" r:id="rId10"/>
    <p:sldLayoutId id="2147483733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b="1" i="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1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1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1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1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Uma imagem com roxo, Saturação de cores, violeta, azul&#10;&#10;Os conteúdos gerados por IA podem estar incorretos.">
            <a:extLst>
              <a:ext uri="{FF2B5EF4-FFF2-40B4-BE49-F238E27FC236}">
                <a16:creationId xmlns:a16="http://schemas.microsoft.com/office/drawing/2014/main" id="{35DDC14C-F8A1-78EE-3A56-8E0D79B8FF7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2195" b="16329"/>
          <a:stretch>
            <a:fillRect/>
          </a:stretch>
        </p:blipFill>
        <p:spPr>
          <a:xfrm>
            <a:off x="20" y="-839"/>
            <a:ext cx="12191980" cy="6858000"/>
          </a:xfrm>
          <a:prstGeom prst="rect">
            <a:avLst/>
          </a:prstGeom>
        </p:spPr>
      </p:pic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F9FFE17-DE95-4821-ACC1-B90C954492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pt-PT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3CF76AF-FF72-4430-A772-0584032902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pt-PT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7E700DE-876E-071B-02D9-08C5F717CA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71132" y="2091263"/>
            <a:ext cx="8649738" cy="25908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Interpretabilidade e Casualidade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418BF35-83AE-AEC9-54B2-2D7D98EFEB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71130" y="4682062"/>
            <a:ext cx="8652788" cy="457201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US"/>
              <a:t>Trabalho Prático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B1C8180-2FDD-4202-8C45-4057CB1AB2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6E86CC6-13EA-4A88-86AD-CF27BF52C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50180" y="1267730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F80B441-4F7D-4B40-8A13-FED03A1F3A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941820" y="1267730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0C7FD1A-44B1-4E4C-B0C9-A8103DCCDC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50180" y="1913025"/>
            <a:ext cx="1691640" cy="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aixaDeTexto 3">
            <a:extLst>
              <a:ext uri="{FF2B5EF4-FFF2-40B4-BE49-F238E27FC236}">
                <a16:creationId xmlns:a16="http://schemas.microsoft.com/office/drawing/2014/main" id="{2E4DE2B6-EDE1-2C17-616B-E77EA79EE5B4}"/>
              </a:ext>
            </a:extLst>
          </p:cNvPr>
          <p:cNvSpPr txBox="1"/>
          <p:nvPr/>
        </p:nvSpPr>
        <p:spPr>
          <a:xfrm>
            <a:off x="8491929" y="6261139"/>
            <a:ext cx="351519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pt-PT" sz="1100" dirty="0">
                <a:solidFill>
                  <a:schemeClr val="bg1"/>
                </a:solidFill>
              </a:rPr>
              <a:t>Trabalho realizado por Carlota Santos, Nº51658</a:t>
            </a:r>
            <a:endParaRPr lang="pt-PT" sz="1100">
              <a:solidFill>
                <a:schemeClr val="bg1"/>
              </a:solidFill>
            </a:endParaRPr>
          </a:p>
          <a:p>
            <a:pPr algn="r">
              <a:spcAft>
                <a:spcPts val="600"/>
              </a:spcAft>
            </a:pPr>
            <a:r>
              <a:rPr lang="pt-PT" sz="1100" dirty="0">
                <a:solidFill>
                  <a:schemeClr val="bg1"/>
                </a:solidFill>
              </a:rPr>
              <a:t>Docente: João Neves</a:t>
            </a:r>
            <a:endParaRPr lang="pt-PT" sz="1100">
              <a:solidFill>
                <a:schemeClr val="bg1"/>
              </a:solidFill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41436C3C-60E9-9C5D-C5B7-89FBF972BC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680" y="136393"/>
            <a:ext cx="1518470" cy="99410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5541821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7">
            <a:extLst>
              <a:ext uri="{FF2B5EF4-FFF2-40B4-BE49-F238E27FC236}">
                <a16:creationId xmlns:a16="http://schemas.microsoft.com/office/drawing/2014/main" id="{3E25BDA2-3F4D-4B38-90E7-989465ECDD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1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6" name="Rectangle 9">
            <a:extLst>
              <a:ext uri="{FF2B5EF4-FFF2-40B4-BE49-F238E27FC236}">
                <a16:creationId xmlns:a16="http://schemas.microsoft.com/office/drawing/2014/main" id="{BC96869A-A70D-42F7-876F-605CB1718F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2108" y="610955"/>
            <a:ext cx="10927784" cy="563609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pt-PT"/>
          </a:p>
        </p:txBody>
      </p:sp>
      <p:sp useBgFill="1">
        <p:nvSpPr>
          <p:cNvPr id="17" name="Rectangle 11">
            <a:extLst>
              <a:ext uri="{FF2B5EF4-FFF2-40B4-BE49-F238E27FC236}">
                <a16:creationId xmlns:a16="http://schemas.microsoft.com/office/drawing/2014/main" id="{6CD407CC-EF5C-486F-9A14-7F681F986D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052" y="777240"/>
            <a:ext cx="10597896" cy="5303520"/>
          </a:xfrm>
          <a:prstGeom prst="rect">
            <a:avLst/>
          </a:prstGeom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pt-PT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801738C-D1EA-0EB7-5345-54EB2E826E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6718" y="1420706"/>
            <a:ext cx="4079550" cy="4016587"/>
          </a:xfrm>
        </p:spPr>
        <p:txBody>
          <a:bodyPr>
            <a:normAutofit/>
          </a:bodyPr>
          <a:lstStyle/>
          <a:p>
            <a:r>
              <a:rPr lang="pt-PT" sz="3200" dirty="0"/>
              <a:t>Motivação e Objetivos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DD76B5F-5BAA-48C6-9065-9AEF15D30B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86269" y="2057401"/>
            <a:ext cx="0" cy="2743200"/>
          </a:xfrm>
          <a:prstGeom prst="line">
            <a:avLst/>
          </a:prstGeom>
          <a:ln w="158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:a16="http://schemas.microsoft.com/office/drawing/2014/main" id="{3548ED68-2CE6-633B-E536-132CB8C2056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515446" y="2921044"/>
            <a:ext cx="4958409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PT" altLang="pt-P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Modelos complexos são difíceis de interpretar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PT" altLang="pt-P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Explicações visuais podem ser subjetivas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PT" altLang="pt-P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Necessidade de métricas quantitativas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PT" altLang="pt-P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Avaliar métodos de interpretabilidade</a:t>
            </a:r>
          </a:p>
        </p:txBody>
      </p:sp>
    </p:spTree>
    <p:extLst>
      <p:ext uri="{BB962C8B-B14F-4D97-AF65-F5344CB8AC3E}">
        <p14:creationId xmlns:p14="http://schemas.microsoft.com/office/powerpoint/2010/main" val="38649545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92F5D2-2226-F2DB-7F24-96199CA5B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E25BDA2-3F4D-4B38-90E7-989465ECDD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1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C96869A-A70D-42F7-876F-605CB1718F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2108" y="610955"/>
            <a:ext cx="10927784" cy="563609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pt-PT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6CD407CC-EF5C-486F-9A14-7F681F986D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052" y="777240"/>
            <a:ext cx="10597896" cy="5303520"/>
          </a:xfrm>
          <a:prstGeom prst="rect">
            <a:avLst/>
          </a:prstGeom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pt-PT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2DC4B25-0F24-169E-4245-3F8BBCDAB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2624" y="1420706"/>
            <a:ext cx="3543183" cy="4016587"/>
          </a:xfrm>
        </p:spPr>
        <p:txBody>
          <a:bodyPr>
            <a:normAutofit/>
          </a:bodyPr>
          <a:lstStyle/>
          <a:p>
            <a:pPr algn="ctr"/>
            <a:r>
              <a:rPr lang="pt-PT" sz="3200" dirty="0"/>
              <a:t>Artigos e Métricas Selecionadas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DD76B5F-5BAA-48C6-9065-9AEF15D30B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86269" y="2057401"/>
            <a:ext cx="0" cy="2743200"/>
          </a:xfrm>
          <a:prstGeom prst="line">
            <a:avLst/>
          </a:prstGeom>
          <a:ln w="158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3">
            <a:extLst>
              <a:ext uri="{FF2B5EF4-FFF2-40B4-BE49-F238E27FC236}">
                <a16:creationId xmlns:a16="http://schemas.microsoft.com/office/drawing/2014/main" id="{91C0AAFD-3E6A-59DC-D249-90AD3D1A7E5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37163" y="2967336"/>
            <a:ext cx="3740126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PT" altLang="pt-P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Dois artigos da literatura científica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PT" altLang="pt-P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Métrica 1: </a:t>
            </a:r>
            <a:r>
              <a:rPr kumimoji="0" lang="pt-PT" altLang="pt-PT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Pointing Game</a:t>
            </a:r>
            <a:endParaRPr kumimoji="0" lang="pt-PT" altLang="pt-PT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PT" altLang="pt-P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Métrica 2: </a:t>
            </a:r>
            <a:r>
              <a:rPr kumimoji="0" lang="pt-PT" altLang="pt-PT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Sparseness</a:t>
            </a:r>
            <a:r>
              <a:rPr kumimoji="0" lang="pt-PT" altLang="pt-PT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(Gini)</a:t>
            </a:r>
            <a:endParaRPr kumimoji="0" lang="pt-PT" altLang="pt-PT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13077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E25BDA2-3F4D-4B38-90E7-989465ECDD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1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C96869A-A70D-42F7-876F-605CB1718F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2108" y="610955"/>
            <a:ext cx="10927784" cy="563609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pt-PT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6CD407CC-EF5C-486F-9A14-7F681F986D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052" y="777240"/>
            <a:ext cx="10597896" cy="5303520"/>
          </a:xfrm>
          <a:prstGeom prst="rect">
            <a:avLst/>
          </a:prstGeom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pt-PT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D79597A-FB79-C885-4D97-0ADE9CF46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2625" y="1420706"/>
            <a:ext cx="3466540" cy="4016587"/>
          </a:xfrm>
        </p:spPr>
        <p:txBody>
          <a:bodyPr>
            <a:normAutofit/>
          </a:bodyPr>
          <a:lstStyle/>
          <a:p>
            <a:r>
              <a:rPr lang="pt-PT" sz="3200" dirty="0" err="1"/>
              <a:t>Dataset</a:t>
            </a:r>
            <a:r>
              <a:rPr lang="pt-PT" sz="3200" dirty="0"/>
              <a:t> e Modelo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DD76B5F-5BAA-48C6-9065-9AEF15D30B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86269" y="2057401"/>
            <a:ext cx="0" cy="2743200"/>
          </a:xfrm>
          <a:prstGeom prst="line">
            <a:avLst/>
          </a:prstGeom>
          <a:ln w="158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:a16="http://schemas.microsoft.com/office/drawing/2014/main" id="{B3571C3D-64FD-7AA8-62D3-F0A64D73492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37163" y="2828836"/>
            <a:ext cx="2718436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PT" altLang="pt-PT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</a:t>
            </a:r>
            <a:r>
              <a:rPr kumimoji="0" lang="pt-PT" altLang="pt-P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pt-PT" altLang="pt-PT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MNIST</a:t>
            </a:r>
            <a:endParaRPr kumimoji="0" lang="pt-PT" altLang="pt-PT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PT" altLang="pt-P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Tipo de dados: imagens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PT" altLang="pt-P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10 classes (dígitos 0–9)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PT" altLang="pt-P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Modelo: </a:t>
            </a:r>
            <a:r>
              <a:rPr kumimoji="0" lang="pt-PT" altLang="pt-PT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CNN</a:t>
            </a:r>
            <a:endParaRPr kumimoji="0" lang="pt-PT" altLang="pt-PT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84363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E25BDA2-3F4D-4B38-90E7-989465ECDD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1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C96869A-A70D-42F7-876F-605CB1718F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2108" y="610955"/>
            <a:ext cx="10927784" cy="563609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pt-PT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6CD407CC-EF5C-486F-9A14-7F681F986D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052" y="777240"/>
            <a:ext cx="10597896" cy="5303520"/>
          </a:xfrm>
          <a:prstGeom prst="rect">
            <a:avLst/>
          </a:prstGeom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pt-PT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E1D733-7C6D-5BFA-5294-79838E679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2625" y="1420706"/>
            <a:ext cx="3466540" cy="4016587"/>
          </a:xfrm>
        </p:spPr>
        <p:txBody>
          <a:bodyPr>
            <a:normAutofit/>
          </a:bodyPr>
          <a:lstStyle/>
          <a:p>
            <a:r>
              <a:rPr lang="pt-PT" sz="3200" dirty="0"/>
              <a:t>Métodos de Interpretabilidade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DD76B5F-5BAA-48C6-9065-9AEF15D30B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86269" y="2057401"/>
            <a:ext cx="0" cy="2743200"/>
          </a:xfrm>
          <a:prstGeom prst="line">
            <a:avLst/>
          </a:prstGeom>
          <a:ln w="158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:a16="http://schemas.microsoft.com/office/drawing/2014/main" id="{9885654F-1DCC-2C46-B8A2-9FF57C3216E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37163" y="1420813"/>
            <a:ext cx="5514975" cy="4016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PT" altLang="pt-PT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Gradiente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PT" altLang="pt-PT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Integrated Gradients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PT" altLang="pt-PT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Occlusion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PT" altLang="pt-PT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Guided Backpropagation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PT" altLang="pt-PT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Grad-CAM</a:t>
            </a:r>
          </a:p>
        </p:txBody>
      </p:sp>
    </p:spTree>
    <p:extLst>
      <p:ext uri="{BB962C8B-B14F-4D97-AF65-F5344CB8AC3E}">
        <p14:creationId xmlns:p14="http://schemas.microsoft.com/office/powerpoint/2010/main" val="5665801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E25BDA2-3F4D-4B38-90E7-989465ECDD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1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C96869A-A70D-42F7-876F-605CB1718F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2108" y="610955"/>
            <a:ext cx="10927784" cy="563609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pt-PT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6CD407CC-EF5C-486F-9A14-7F681F986D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052" y="777240"/>
            <a:ext cx="10597896" cy="5303520"/>
          </a:xfrm>
          <a:prstGeom prst="rect">
            <a:avLst/>
          </a:prstGeom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pt-PT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0F35BED-3E27-5D32-6315-3235D7DF1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2625" y="1420706"/>
            <a:ext cx="3466540" cy="4016587"/>
          </a:xfrm>
        </p:spPr>
        <p:txBody>
          <a:bodyPr>
            <a:normAutofit/>
          </a:bodyPr>
          <a:lstStyle/>
          <a:p>
            <a:r>
              <a:rPr lang="pt-PT" sz="3200" dirty="0"/>
              <a:t>Métrica 1: Pointing Game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DD76B5F-5BAA-48C6-9065-9AEF15D30B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86269" y="2057401"/>
            <a:ext cx="0" cy="2743200"/>
          </a:xfrm>
          <a:prstGeom prst="line">
            <a:avLst/>
          </a:prstGeom>
          <a:ln w="158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:a16="http://schemas.microsoft.com/office/drawing/2014/main" id="{640C83CF-7F2C-8CB5-1323-7B2C0ED2CF8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37163" y="1420813"/>
            <a:ext cx="5514975" cy="4016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PT" altLang="pt-PT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Avalia correção espacial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PT" altLang="pt-PT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Ponto de maior ativação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PT" altLang="pt-PT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Comparação com região relevante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PT" altLang="pt-PT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Variante </a:t>
            </a:r>
            <a:r>
              <a:rPr kumimoji="0" lang="pt-PT" altLang="pt-PT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Top-K</a:t>
            </a:r>
            <a:endParaRPr kumimoji="0" lang="pt-PT" altLang="pt-PT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21928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E25BDA2-3F4D-4B38-90E7-989465ECDD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1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C96869A-A70D-42F7-876F-605CB1718F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2108" y="610955"/>
            <a:ext cx="10927784" cy="563609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pt-PT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6CD407CC-EF5C-486F-9A14-7F681F986D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052" y="777240"/>
            <a:ext cx="10597896" cy="5303520"/>
          </a:xfrm>
          <a:prstGeom prst="rect">
            <a:avLst/>
          </a:prstGeom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pt-PT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C716123-0E5B-88E1-D5F6-AB0823A8E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2625" y="1420706"/>
            <a:ext cx="3466540" cy="4016587"/>
          </a:xfrm>
        </p:spPr>
        <p:txBody>
          <a:bodyPr>
            <a:normAutofit/>
          </a:bodyPr>
          <a:lstStyle/>
          <a:p>
            <a:r>
              <a:rPr lang="pt-PT" sz="3200" dirty="0"/>
              <a:t>Métrica 2: </a:t>
            </a:r>
            <a:r>
              <a:rPr lang="pt-PT" sz="3200" dirty="0" err="1"/>
              <a:t>Sparseness</a:t>
            </a:r>
            <a:r>
              <a:rPr lang="pt-PT" sz="3200" dirty="0"/>
              <a:t> (Gini)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DD76B5F-5BAA-48C6-9065-9AEF15D30B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86269" y="2057401"/>
            <a:ext cx="0" cy="2743200"/>
          </a:xfrm>
          <a:prstGeom prst="line">
            <a:avLst/>
          </a:prstGeom>
          <a:ln w="158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:a16="http://schemas.microsoft.com/office/drawing/2014/main" id="{2E7194CD-1920-CE0E-18E8-7700BB0E62B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37163" y="1420813"/>
            <a:ext cx="5514975" cy="4016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PT" altLang="pt-PT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Mede concentração da explicação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PT" altLang="pt-PT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Baseada no índice de Gini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PT" altLang="pt-PT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Intervalo </a:t>
            </a:r>
            <a:r>
              <a:rPr kumimoji="0" lang="pt-PT" altLang="pt-PT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[0,1]</a:t>
            </a:r>
            <a:endParaRPr kumimoji="0" lang="pt-PT" altLang="pt-PT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PT" altLang="pt-PT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Valores altos → mapas mais focados</a:t>
            </a:r>
          </a:p>
        </p:txBody>
      </p:sp>
    </p:spTree>
    <p:extLst>
      <p:ext uri="{BB962C8B-B14F-4D97-AF65-F5344CB8AC3E}">
        <p14:creationId xmlns:p14="http://schemas.microsoft.com/office/powerpoint/2010/main" val="19574078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 52">
            <a:extLst>
              <a:ext uri="{FF2B5EF4-FFF2-40B4-BE49-F238E27FC236}">
                <a16:creationId xmlns:a16="http://schemas.microsoft.com/office/drawing/2014/main" id="{904DB13E-F722-4ED6-BB00-556651E95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66A413F7-FFE1-42E7-8C6C-E9CCC477F8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pt-PT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BCE0B0FD-3413-40CC-A7D8-6A5058608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pt-PT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50C4C044-5B1C-40C8-8C7B-AA5E6D879D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E26428D7-C6F3-473D-A360-A3F5C3E872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00163F5F-1439-4827-8F7A-B08BDDEFB9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BA677414-C3D2-4430-876D-9092D633F5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39181D20-1D81-447D-9854-10DDB10D54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6" name="Rectangle 65">
            <a:extLst>
              <a:ext uri="{FF2B5EF4-FFF2-40B4-BE49-F238E27FC236}">
                <a16:creationId xmlns:a16="http://schemas.microsoft.com/office/drawing/2014/main" id="{02DC0967-ECFB-46A2-ADEB-01374F3D3C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007" y="0"/>
            <a:ext cx="12192001" cy="6858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533173E3-A708-4A63-AB1F-6729F5E53B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3190" y="457200"/>
            <a:ext cx="11281609" cy="5943603"/>
          </a:xfrm>
          <a:prstGeom prst="rect">
            <a:avLst/>
          </a:prstGeom>
          <a:solidFill>
            <a:srgbClr val="FFFFFF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pt-PT"/>
          </a:p>
        </p:txBody>
      </p:sp>
      <p:sp useBgFill="1">
        <p:nvSpPr>
          <p:cNvPr id="70" name="Rectangle 69">
            <a:extLst>
              <a:ext uri="{FF2B5EF4-FFF2-40B4-BE49-F238E27FC236}">
                <a16:creationId xmlns:a16="http://schemas.microsoft.com/office/drawing/2014/main" id="{9D98FDEF-0256-4AA6-B4F5-14FEE180D8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6738" y="621793"/>
            <a:ext cx="10954512" cy="5614416"/>
          </a:xfrm>
          <a:prstGeom prst="rect">
            <a:avLst/>
          </a:prstGeom>
          <a:ln w="6350" cap="sq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/>
          <a:lstStyle/>
          <a:p>
            <a:endParaRPr lang="pt-PT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B2EFD98-B463-1AE2-B436-E2EC8DB3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207015" y="739038"/>
            <a:ext cx="9893929" cy="127506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83000"/>
              </a:lnSpc>
            </a:pPr>
            <a:r>
              <a:rPr lang="en-US" b="0" cap="all" spc="-100" dirty="0" err="1">
                <a:solidFill>
                  <a:schemeClr val="tx1"/>
                </a:solidFill>
              </a:rPr>
              <a:t>Resultados</a:t>
            </a:r>
            <a:r>
              <a:rPr lang="en-US" b="0" cap="all" spc="-100" dirty="0">
                <a:solidFill>
                  <a:schemeClr val="tx1"/>
                </a:solidFill>
              </a:rPr>
              <a:t> </a:t>
            </a:r>
            <a:r>
              <a:rPr lang="en-US" b="0" cap="all" spc="-100" dirty="0" err="1">
                <a:solidFill>
                  <a:schemeClr val="tx1"/>
                </a:solidFill>
              </a:rPr>
              <a:t>Quantitativos</a:t>
            </a:r>
            <a:endParaRPr lang="en-US" b="0" cap="all" spc="-100" dirty="0">
              <a:solidFill>
                <a:schemeClr val="tx1"/>
              </a:solidFill>
            </a:endParaRPr>
          </a:p>
        </p:txBody>
      </p:sp>
      <p:pic>
        <p:nvPicPr>
          <p:cNvPr id="5" name="Imagem 4" descr="Uma imagem com texto, captura de ecrã, diagrama, Retângulo&#10;&#10;Os conteúdos gerados por IA podem estar incorretos.">
            <a:extLst>
              <a:ext uri="{FF2B5EF4-FFF2-40B4-BE49-F238E27FC236}">
                <a16:creationId xmlns:a16="http://schemas.microsoft.com/office/drawing/2014/main" id="{038CC003-1F7C-943A-4F2C-98CE59B095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4729" y="2471299"/>
            <a:ext cx="4344369" cy="2595760"/>
          </a:xfrm>
          <a:prstGeom prst="rect">
            <a:avLst/>
          </a:prstGeom>
        </p:spPr>
      </p:pic>
      <p:sp>
        <p:nvSpPr>
          <p:cNvPr id="72" name="Rectangle 71">
            <a:extLst>
              <a:ext uri="{FF2B5EF4-FFF2-40B4-BE49-F238E27FC236}">
                <a16:creationId xmlns:a16="http://schemas.microsoft.com/office/drawing/2014/main" id="{8ABEB269-2208-4181-9DDB-A5C2D189B2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51298" y="446824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384CBE60-0977-4285-9BF5-9D8271989A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365598" y="446823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1911CEBB-5C08-41C5-8954-C727FC8755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057238" y="446823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E56FA950-4DFC-4710-A30A-6E55033CA4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365598" y="1092118"/>
            <a:ext cx="1691640" cy="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em 6" descr="Uma imagem com texto, captura de ecrã, diagrama, Retângulo&#10;&#10;Os conteúdos gerados por IA podem estar incorretos.">
            <a:extLst>
              <a:ext uri="{FF2B5EF4-FFF2-40B4-BE49-F238E27FC236}">
                <a16:creationId xmlns:a16="http://schemas.microsoft.com/office/drawing/2014/main" id="{09ABAF78-5A07-AA4D-10E0-8D060B9747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06" y="2486151"/>
            <a:ext cx="4461298" cy="2665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92755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904DB13E-F722-4ED6-BB00-556651E95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66A413F7-FFE1-42E7-8C6C-E9CCC477F8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pt-PT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CE0B0FD-3413-40CC-A7D8-6A5058608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pt-PT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0C4C044-5B1C-40C8-8C7B-AA5E6D879D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26428D7-C6F3-473D-A360-A3F5C3E872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0163F5F-1439-4827-8F7A-B08BDDEFB9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A677414-C3D2-4430-876D-9092D633F5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9181D20-1D81-447D-9854-10DDB10D54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02DC0967-ECFB-46A2-ADEB-01374F3D3C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007" y="0"/>
            <a:ext cx="12192001" cy="6858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33173E3-A708-4A63-AB1F-6729F5E53B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3190" y="457200"/>
            <a:ext cx="11281609" cy="5943603"/>
          </a:xfrm>
          <a:prstGeom prst="rect">
            <a:avLst/>
          </a:prstGeom>
          <a:solidFill>
            <a:srgbClr val="FFFFFF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pt-PT"/>
          </a:p>
        </p:txBody>
      </p:sp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9D98FDEF-0256-4AA6-B4F5-14FEE180D8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6738" y="621793"/>
            <a:ext cx="10954512" cy="5614416"/>
          </a:xfrm>
          <a:prstGeom prst="rect">
            <a:avLst/>
          </a:prstGeom>
          <a:ln w="6350" cap="sq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/>
          <a:lstStyle/>
          <a:p>
            <a:endParaRPr lang="pt-PT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7C2DF0B-83E8-E024-3D29-5B0A8D776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548" y="835747"/>
            <a:ext cx="8553535" cy="147661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83000"/>
              </a:lnSpc>
            </a:pPr>
            <a:r>
              <a:rPr lang="en-US" b="0" cap="all" spc="-100" dirty="0" err="1">
                <a:solidFill>
                  <a:schemeClr val="tx1"/>
                </a:solidFill>
              </a:rPr>
              <a:t>Análise</a:t>
            </a:r>
            <a:r>
              <a:rPr lang="en-US" b="0" cap="all" spc="-100" dirty="0">
                <a:solidFill>
                  <a:schemeClr val="tx1"/>
                </a:solidFill>
              </a:rPr>
              <a:t> </a:t>
            </a:r>
            <a:r>
              <a:rPr lang="en-US" b="0" cap="all" spc="-100" dirty="0" err="1">
                <a:solidFill>
                  <a:schemeClr val="tx1"/>
                </a:solidFill>
              </a:rPr>
              <a:t>Qualitativa</a:t>
            </a:r>
            <a:r>
              <a:rPr lang="en-US" b="0" cap="all" spc="-100" dirty="0">
                <a:solidFill>
                  <a:schemeClr val="tx1"/>
                </a:solidFill>
              </a:rPr>
              <a:t> das </a:t>
            </a:r>
            <a:r>
              <a:rPr lang="en-US" b="0" cap="all" spc="-100" dirty="0" err="1">
                <a:solidFill>
                  <a:schemeClr val="tx1"/>
                </a:solidFill>
              </a:rPr>
              <a:t>Explicações</a:t>
            </a:r>
            <a:endParaRPr lang="en-US" b="0" cap="all" spc="-100" dirty="0">
              <a:solidFill>
                <a:schemeClr val="tx1"/>
              </a:solidFill>
            </a:endParaRPr>
          </a:p>
        </p:txBody>
      </p:sp>
      <p:pic>
        <p:nvPicPr>
          <p:cNvPr id="7" name="Imagem 6" descr="Uma imagem com captura de ecrã&#10;&#10;Os conteúdos gerados por IA podem estar incorretos.">
            <a:extLst>
              <a:ext uri="{FF2B5EF4-FFF2-40B4-BE49-F238E27FC236}">
                <a16:creationId xmlns:a16="http://schemas.microsoft.com/office/drawing/2014/main" id="{DA35D666-D115-C908-F93A-808E457F2C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2774" y="3991195"/>
            <a:ext cx="5258229" cy="2142728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8ABEB269-2208-4181-9DDB-A5C2D189B2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51298" y="446824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84CBE60-0977-4285-9BF5-9D8271989A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365598" y="446823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1911CEBB-5C08-41C5-8954-C727FC8755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057238" y="446823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E56FA950-4DFC-4710-A30A-6E55033CA4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365598" y="1092118"/>
            <a:ext cx="1691640" cy="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m 4" descr="Uma imagem com captura de ecrã&#10;&#10;Os conteúdos gerados por IA podem estar incorretos.">
            <a:extLst>
              <a:ext uri="{FF2B5EF4-FFF2-40B4-BE49-F238E27FC236}">
                <a16:creationId xmlns:a16="http://schemas.microsoft.com/office/drawing/2014/main" id="{AB03CC5A-26D2-5E61-A0E0-ABAECD364E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321" y="1919403"/>
            <a:ext cx="5280754" cy="2151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8248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E25BDA2-3F4D-4B38-90E7-989465ECDD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1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C96869A-A70D-42F7-876F-605CB1718F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2108" y="610955"/>
            <a:ext cx="10927784" cy="563609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pt-PT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6CD407CC-EF5C-486F-9A14-7F681F986D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052" y="777240"/>
            <a:ext cx="10597896" cy="5303520"/>
          </a:xfrm>
          <a:prstGeom prst="rect">
            <a:avLst/>
          </a:prstGeom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pt-PT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E1A0006-0CBF-4D62-294D-7B7660A16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2625" y="1420706"/>
            <a:ext cx="3466540" cy="4016587"/>
          </a:xfrm>
        </p:spPr>
        <p:txBody>
          <a:bodyPr>
            <a:normAutofit/>
          </a:bodyPr>
          <a:lstStyle/>
          <a:p>
            <a:r>
              <a:rPr lang="pt-PT" sz="3200" dirty="0"/>
              <a:t>Discussão Crítica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DD76B5F-5BAA-48C6-9065-9AEF15D30B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86269" y="2057401"/>
            <a:ext cx="0" cy="2743200"/>
          </a:xfrm>
          <a:prstGeom prst="line">
            <a:avLst/>
          </a:prstGeom>
          <a:ln w="158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:a16="http://schemas.microsoft.com/office/drawing/2014/main" id="{5D08A32E-6BBF-962A-9773-EC4ECB7A138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37163" y="1420813"/>
            <a:ext cx="5514975" cy="4016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PT" altLang="pt-PT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Trade-offs entre métricas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PT" altLang="pt-PT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Nenhuma métrica isolada é suficiente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PT" altLang="pt-PT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Coerência vs incoerência entre métricas e mapas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PT" altLang="pt-PT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Métodos adequados a cenários diferentes</a:t>
            </a:r>
          </a:p>
        </p:txBody>
      </p:sp>
    </p:spTree>
    <p:extLst>
      <p:ext uri="{BB962C8B-B14F-4D97-AF65-F5344CB8AC3E}">
        <p14:creationId xmlns:p14="http://schemas.microsoft.com/office/powerpoint/2010/main" val="13938277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4737801-B9D6-4A08-BD77-23010A802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5FABD39-C757-461E-A681-DC27364840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3190" y="572613"/>
            <a:ext cx="11281609" cy="2396079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DF424F5-8D5C-46C0-A1B0-AF34E0350C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6738" y="737380"/>
            <a:ext cx="10954512" cy="2066544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pt-PT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F1D3C9-B03F-B89E-B498-B287E8FAA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089090"/>
            <a:ext cx="10058400" cy="1371600"/>
          </a:xfrm>
        </p:spPr>
        <p:txBody>
          <a:bodyPr>
            <a:normAutofit/>
          </a:bodyPr>
          <a:lstStyle/>
          <a:p>
            <a:pPr algn="ctr"/>
            <a:r>
              <a:rPr lang="pt-PT" dirty="0">
                <a:solidFill>
                  <a:schemeClr val="tx1"/>
                </a:solidFill>
              </a:rPr>
              <a:t>Conclusões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00FDC286-DDBE-4792-8E2F-0176AE29C7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753" y="3224027"/>
            <a:ext cx="11661247" cy="2508384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pt-PT" sz="2000" dirty="0"/>
              <a:t>Os objetivos do trabalho foram atingidos, tendo sido implementadas métricas quantitativas para avaliar métodos de interpretabilidade aplicados a um modelo de classificação de imagens.</a:t>
            </a:r>
            <a:br>
              <a:rPr lang="pt-PT" sz="2000" dirty="0"/>
            </a:br>
            <a:r>
              <a:rPr lang="pt-PT" sz="2000" dirty="0"/>
              <a:t>Os resultados mostram que diferentes métodos apresentam comportamentos distintos consoante a métrica utilizada.</a:t>
            </a:r>
            <a:br>
              <a:rPr lang="pt-PT" sz="2000" dirty="0"/>
            </a:br>
            <a:r>
              <a:rPr lang="pt-PT" sz="2000" dirty="0"/>
              <a:t>Este trabalho reforça a importância da utilização conjunta de métricas quantitativas e análise visual para uma avaliação mais rigorosa da interpretabilidade.”</a:t>
            </a:r>
          </a:p>
        </p:txBody>
      </p:sp>
    </p:spTree>
    <p:extLst>
      <p:ext uri="{BB962C8B-B14F-4D97-AF65-F5344CB8AC3E}">
        <p14:creationId xmlns:p14="http://schemas.microsoft.com/office/powerpoint/2010/main" val="354798214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Custom 8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96A9A9"/>
      </a:accent1>
      <a:accent2>
        <a:srgbClr val="CB58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D0690C"/>
      </a:hlink>
      <a:folHlink>
        <a:srgbClr val="9696A0"/>
      </a:folHlink>
    </a:clrScheme>
    <a:fontScheme name="Savon">
      <a:majorFont>
        <a:latin typeface="Speak Pro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Selawik Light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VTI" id="{A72E8C35-66DD-49F8-AF66-813F19B983AE}" vid="{93CCBC76-B7A1-4C3D-93EA-5CE34C4670F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226</Words>
  <Application>Microsoft Office PowerPoint</Application>
  <PresentationFormat>Ecrã Panorâmico</PresentationFormat>
  <Paragraphs>43</Paragraphs>
  <Slides>11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11</vt:i4>
      </vt:variant>
    </vt:vector>
  </HeadingPairs>
  <TitlesOfParts>
    <vt:vector size="16" baseType="lpstr">
      <vt:lpstr>Arial</vt:lpstr>
      <vt:lpstr>Garamond</vt:lpstr>
      <vt:lpstr>Selawik Light</vt:lpstr>
      <vt:lpstr>Speak Pro</vt:lpstr>
      <vt:lpstr>SavonVTI</vt:lpstr>
      <vt:lpstr>Interpretabilidade e Casualidade</vt:lpstr>
      <vt:lpstr>Motivação e Objetivos</vt:lpstr>
      <vt:lpstr>Artigos e Métricas Selecionadas</vt:lpstr>
      <vt:lpstr>Dataset e Modelo</vt:lpstr>
      <vt:lpstr>Métodos de Interpretabilidade</vt:lpstr>
      <vt:lpstr>Métrica 1: Pointing Game</vt:lpstr>
      <vt:lpstr>Métrica 2: Sparseness (Gini)</vt:lpstr>
      <vt:lpstr>Resultados Quantitativos</vt:lpstr>
      <vt:lpstr>Análise Qualitativa das Explicações</vt:lpstr>
      <vt:lpstr>Discussão Crítica</vt:lpstr>
      <vt:lpstr>Conclusões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CARLOTA SARAIVA SIMÕES PEREIRA DOS SANTOS</dc:creator>
  <cp:lastModifiedBy>CARLOTA SARAIVA SIMÕES PEREIRA DOS SANTOS</cp:lastModifiedBy>
  <cp:revision>1</cp:revision>
  <dcterms:created xsi:type="dcterms:W3CDTF">2026-01-08T00:07:11Z</dcterms:created>
  <dcterms:modified xsi:type="dcterms:W3CDTF">2026-01-08T00:29:35Z</dcterms:modified>
</cp:coreProperties>
</file>